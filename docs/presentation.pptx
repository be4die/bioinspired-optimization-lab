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6858000" cy="9144000"/>
  <p:embeddedFontLst>
    <p:embeddedFont>
      <p:font typeface="Alexandria Bold" panose="020B0604020202020204" charset="-78"/>
      <p:regular r:id="rId20"/>
    </p:embeddedFon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Garet" panose="020B0604020202020204" charset="0"/>
      <p:regular r:id="rId25"/>
    </p:embeddedFont>
    <p:embeddedFont>
      <p:font typeface="Garet Bold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61163" autoAdjust="0"/>
  </p:normalViewPr>
  <p:slideViewPr>
    <p:cSldViewPr>
      <p:cViewPr varScale="1">
        <p:scale>
          <a:sx n="47" d="100"/>
          <a:sy n="47" d="100"/>
        </p:scale>
        <p:origin x="2094" y="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92C078-AEA0-4DAC-B6B0-97E40588AD3A}" type="datetimeFigureOut">
              <a:rPr lang="ru-RU" smtClean="0"/>
              <a:t>15.01.2026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A2ABD1-8A71-48D0-8AC7-45ACB78FA4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7317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Вашему внимание предлагается лабораторная работа номер 5 по дисциплине алгоритмы на графах на тему БИОИНСПИРИРОВАННЫЕ АЛГОРИТМЫ И РОЕВОЙ ИНТЕЛЛЕКТ. Выполнил </a:t>
            </a:r>
            <a:r>
              <a:rPr lang="ru-RU" dirty="0" err="1"/>
              <a:t>Наследсков</a:t>
            </a:r>
            <a:r>
              <a:rPr lang="ru-RU" dirty="0"/>
              <a:t> Михаил студент группы ДИПРБ 31</a:t>
            </a:r>
            <a:r>
              <a:rPr lang="en-US" dirty="0"/>
              <a:t>/2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2ABD1-8A71-48D0-8AC7-45ACB78FA4A7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49297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>
                <a:effectLst/>
              </a:rPr>
              <a:t>Рассмотрим постановку задачи. Дан набор вычислительных задач и набор виртуальных машин разной производительности и объёма памяти. Каждая задача имеет объём вычислений, требования к памяти и множество предшественников. Необходимо назначить каждую задачу на одну машину так, чтобы: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соблюдались все ограничения по памяти,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полностью выполнялись отношения предшествования,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минимизировалось общее время завершения всех задач (</a:t>
            </a:r>
            <a:r>
              <a:rPr lang="ru-RU" dirty="0" err="1"/>
              <a:t>makespan</a:t>
            </a:r>
            <a:r>
              <a:rPr lang="ru-RU" dirty="0"/>
              <a:t>).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2ABD1-8A71-48D0-8AC7-45ACB78FA4A7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24079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>
                <a:effectLst/>
              </a:rPr>
              <a:t>Формально задача описывается следующим образом. n — количество задач, m — количество виртуальных машин. Для каждой задачи известны объём вычислений </a:t>
            </a:r>
            <a:r>
              <a:rPr lang="ru-RU" dirty="0" err="1">
                <a:effectLst/>
              </a:rPr>
              <a:t>Ti</a:t>
            </a:r>
            <a:r>
              <a:rPr lang="ru-RU" dirty="0">
                <a:effectLst/>
              </a:rPr>
              <a:t>, требуемая память </a:t>
            </a:r>
            <a:r>
              <a:rPr lang="ru-RU" dirty="0" err="1">
                <a:effectLst/>
              </a:rPr>
              <a:t>Vi</a:t>
            </a:r>
            <a:r>
              <a:rPr lang="ru-RU" dirty="0">
                <a:effectLst/>
              </a:rPr>
              <a:t> и множество предшественников </a:t>
            </a:r>
            <a:r>
              <a:rPr lang="ru-RU" dirty="0" err="1">
                <a:effectLst/>
              </a:rPr>
              <a:t>Pi</a:t>
            </a:r>
            <a:r>
              <a:rPr lang="ru-RU" dirty="0">
                <a:effectLst/>
              </a:rPr>
              <a:t>. Для каждой машины — производительность </a:t>
            </a:r>
            <a:r>
              <a:rPr lang="ru-RU" dirty="0" err="1">
                <a:effectLst/>
              </a:rPr>
              <a:t>Fj</a:t>
            </a:r>
            <a:r>
              <a:rPr lang="ru-RU" dirty="0">
                <a:effectLst/>
              </a:rPr>
              <a:t> и доступная память </a:t>
            </a:r>
            <a:r>
              <a:rPr lang="ru-RU" dirty="0" err="1">
                <a:effectLst/>
              </a:rPr>
              <a:t>Mj</a:t>
            </a:r>
            <a:r>
              <a:rPr lang="ru-RU" dirty="0">
                <a:effectLst/>
              </a:rPr>
              <a:t>. Решение кодируется вектором назначения — для каждой задачи указывается номер машины, на которую она ставится.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2ABD1-8A71-48D0-8AC7-45ACB78FA4A7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55178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>
                <a:effectLst/>
              </a:rPr>
              <a:t>Целевая функция — минимизация максимального времени завершения всех задач, то есть классический </a:t>
            </a:r>
            <a:r>
              <a:rPr lang="ru-RU" dirty="0" err="1">
                <a:effectLst/>
              </a:rPr>
              <a:t>makespan</a:t>
            </a:r>
            <a:r>
              <a:rPr lang="ru-RU" dirty="0">
                <a:effectLst/>
              </a:rPr>
              <a:t>. На слайде представлена формула расчёта момента начала и завершения задачи с учётом двух видов зависимостей: предшественников по графу и последовательного выполнения на одной и той же машине. Формула представлена на слайде.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>
              <a:effectLst/>
            </a:endParaRPr>
          </a:p>
          <a:p>
            <a:r>
              <a:rPr lang="ru-RU" b="1" dirty="0">
                <a:effectLst/>
              </a:rPr>
              <a:t>Основная цель (что мы хотим минимизировать)</a:t>
            </a:r>
            <a:r>
              <a:rPr lang="ru-RU" dirty="0">
                <a:effectLst/>
              </a:rPr>
              <a:t> f(X) = </a:t>
            </a:r>
            <a:r>
              <a:rPr lang="ru-RU" dirty="0" err="1">
                <a:effectLst/>
              </a:rPr>
              <a:t>max</a:t>
            </a:r>
            <a:r>
              <a:rPr lang="ru-RU" dirty="0">
                <a:effectLst/>
              </a:rPr>
              <a:t>{C₁, C₂, …, Cₙ} → Это </a:t>
            </a:r>
            <a:r>
              <a:rPr lang="ru-RU" b="1" dirty="0">
                <a:effectLst/>
              </a:rPr>
              <a:t>самое позднее время</a:t>
            </a:r>
            <a:r>
              <a:rPr lang="ru-RU" dirty="0">
                <a:effectLst/>
              </a:rPr>
              <a:t>, когда </a:t>
            </a:r>
            <a:r>
              <a:rPr lang="ru-RU" b="1" dirty="0">
                <a:effectLst/>
              </a:rPr>
              <a:t>все</a:t>
            </a:r>
            <a:r>
              <a:rPr lang="ru-RU" dirty="0">
                <a:effectLst/>
              </a:rPr>
              <a:t> задачи закончатся (</a:t>
            </a:r>
            <a:r>
              <a:rPr lang="ru-RU" dirty="0" err="1">
                <a:effectLst/>
              </a:rPr>
              <a:t>makespan</a:t>
            </a:r>
            <a:r>
              <a:rPr lang="ru-RU" dirty="0">
                <a:effectLst/>
              </a:rPr>
              <a:t>).</a:t>
            </a:r>
          </a:p>
          <a:p>
            <a:r>
              <a:rPr lang="ru-RU" b="1" dirty="0">
                <a:effectLst/>
              </a:rPr>
              <a:t>Что такое Cᵢ</a:t>
            </a:r>
            <a:r>
              <a:rPr lang="ru-RU" dirty="0">
                <a:effectLst/>
              </a:rPr>
              <a:t> (момент завершения задачи i) Cᵢ = Sᵢ + tᵢ Простыми словами: </a:t>
            </a:r>
            <a:r>
              <a:rPr lang="ru-RU" b="1" dirty="0">
                <a:effectLst/>
              </a:rPr>
              <a:t>Когда задача закончилась = когда она начала + сколько она выполнялась</a:t>
            </a:r>
            <a:endParaRPr lang="ru-RU" dirty="0">
              <a:effectLst/>
            </a:endParaRPr>
          </a:p>
          <a:p>
            <a:r>
              <a:rPr lang="ru-RU" b="1" dirty="0">
                <a:effectLst/>
              </a:rPr>
              <a:t>Что такое tᵢ</a:t>
            </a:r>
            <a:r>
              <a:rPr lang="ru-RU" dirty="0">
                <a:effectLst/>
              </a:rPr>
              <a:t> (время выполнения задачи i) tᵢ = Tᵢ / Fⱼ (где j — та машина, на которую мы поставили задачу i) Простыми словами: </a:t>
            </a:r>
            <a:r>
              <a:rPr lang="ru-RU" b="1" dirty="0">
                <a:effectLst/>
              </a:rPr>
              <a:t>Сколько времени задача будет работать на выбранной машине</a:t>
            </a:r>
            <a:r>
              <a:rPr lang="ru-RU" dirty="0">
                <a:effectLst/>
              </a:rPr>
              <a:t> (чем мощнее машина — тем быстрее выполнится, т.к. Fⱼ больше → tᵢ меньше)</a:t>
            </a:r>
          </a:p>
          <a:p>
            <a:r>
              <a:rPr lang="ru-RU" b="1" dirty="0">
                <a:effectLst/>
              </a:rPr>
              <a:t>Что такое Sᵢ</a:t>
            </a:r>
            <a:r>
              <a:rPr lang="ru-RU" dirty="0">
                <a:effectLst/>
              </a:rPr>
              <a:t> (момент начала задачи i) Sᵢ = </a:t>
            </a:r>
            <a:r>
              <a:rPr lang="ru-RU" dirty="0" err="1">
                <a:effectLst/>
              </a:rPr>
              <a:t>max</a:t>
            </a:r>
            <a:r>
              <a:rPr lang="ru-RU" dirty="0">
                <a:effectLst/>
              </a:rPr>
              <a:t>{ </a:t>
            </a:r>
            <a:r>
              <a:rPr lang="ru-RU" dirty="0" err="1">
                <a:effectLst/>
              </a:rPr>
              <a:t>max</a:t>
            </a:r>
            <a:r>
              <a:rPr lang="ru-RU" dirty="0">
                <a:effectLst/>
              </a:rPr>
              <a:t>{Cₖ | k ∈ Pᵢ} , </a:t>
            </a:r>
            <a:r>
              <a:rPr lang="ru-RU" dirty="0" err="1">
                <a:effectLst/>
              </a:rPr>
              <a:t>max</a:t>
            </a:r>
            <a:r>
              <a:rPr lang="ru-RU" dirty="0">
                <a:effectLst/>
              </a:rPr>
              <a:t>{Cₖ | задача k выполняется на той же машине перед i} }</a:t>
            </a:r>
          </a:p>
          <a:p>
            <a:r>
              <a:rPr lang="ru-RU" dirty="0">
                <a:effectLst/>
              </a:rPr>
              <a:t>Простыми словами: Задача i </a:t>
            </a:r>
            <a:r>
              <a:rPr lang="ru-RU" b="1" dirty="0">
                <a:effectLst/>
              </a:rPr>
              <a:t>не может начаться</a:t>
            </a:r>
            <a:r>
              <a:rPr lang="ru-RU" dirty="0">
                <a:effectLst/>
              </a:rPr>
              <a:t>, пока не выполнены </a:t>
            </a:r>
            <a:r>
              <a:rPr lang="ru-RU" b="1" dirty="0">
                <a:effectLst/>
              </a:rPr>
              <a:t>два условия</a:t>
            </a:r>
            <a:r>
              <a:rPr lang="ru-RU" dirty="0">
                <a:effectLst/>
              </a:rPr>
              <a:t>:</a:t>
            </a:r>
          </a:p>
          <a:p>
            <a:pPr>
              <a:buFont typeface="+mj-lt"/>
              <a:buAutoNum type="arabicPeriod"/>
            </a:pPr>
            <a:r>
              <a:rPr lang="ru-RU" b="1" dirty="0"/>
              <a:t>Все её предшественники</a:t>
            </a:r>
            <a:r>
              <a:rPr lang="ru-RU" dirty="0"/>
              <a:t> (те, от которых идёт стрелка в графе) уже закончились. → берём самое позднее время завершения среди всех предшественников (</a:t>
            </a:r>
            <a:r>
              <a:rPr lang="ru-RU" dirty="0" err="1"/>
              <a:t>max</a:t>
            </a:r>
            <a:r>
              <a:rPr lang="ru-RU" dirty="0"/>
              <a:t>{Cₖ для k ∈ Pᵢ})</a:t>
            </a:r>
          </a:p>
          <a:p>
            <a:pPr>
              <a:buFont typeface="+mj-lt"/>
              <a:buAutoNum type="arabicPeriod"/>
            </a:pPr>
            <a:r>
              <a:rPr lang="ru-RU" b="1" dirty="0"/>
              <a:t>На той же машине</a:t>
            </a:r>
            <a:r>
              <a:rPr lang="ru-RU" dirty="0"/>
              <a:t> все задачи, которые должны идти </a:t>
            </a:r>
            <a:r>
              <a:rPr lang="ru-RU" b="1" dirty="0"/>
              <a:t>перед</a:t>
            </a:r>
            <a:r>
              <a:rPr lang="ru-RU" dirty="0"/>
              <a:t> ней, тоже уже закончились. → берём самое позднее время завершения среди задач, которые стоят перед ней на этой машине.</a:t>
            </a:r>
          </a:p>
          <a:p>
            <a:r>
              <a:rPr lang="ru-RU" b="1" dirty="0">
                <a:effectLst/>
              </a:rPr>
              <a:t>Итого</a:t>
            </a:r>
            <a:r>
              <a:rPr lang="ru-RU" dirty="0">
                <a:effectLst/>
              </a:rPr>
              <a:t>: Sᵢ — это </a:t>
            </a:r>
            <a:r>
              <a:rPr lang="ru-RU" b="1" dirty="0">
                <a:effectLst/>
              </a:rPr>
              <a:t>самое позднее</a:t>
            </a:r>
            <a:r>
              <a:rPr lang="ru-RU" dirty="0">
                <a:effectLst/>
              </a:rPr>
              <a:t> из двух моментов: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когда освободились все предшественники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когда освободилась сама машина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>
              <a:effectLst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2ABD1-8A71-48D0-8AC7-45ACB78FA4A7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93809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>
                <a:effectLst/>
              </a:rPr>
              <a:t>Ограничения делятся на жёсткие и мягкие. Жёсткие: каждая задача должна быть назначена ровно на одну машину, требования по памяти должны выполняться, предшествования не должны нарушаться. Мягкие ограничения (в основном попытки нарушения памяти и предшествований) учитываются через большие штрафные коэффициенты и добавляются к целевой функции. Итоговая функция, которую минимизирует алгоритм — это </a:t>
            </a:r>
            <a:r>
              <a:rPr lang="ru-RU" dirty="0" err="1">
                <a:effectLst/>
              </a:rPr>
              <a:t>makespan</a:t>
            </a:r>
            <a:r>
              <a:rPr lang="ru-RU" dirty="0">
                <a:effectLst/>
              </a:rPr>
              <a:t> плюс суммарный штраф.</a:t>
            </a:r>
          </a:p>
          <a:p>
            <a:r>
              <a:rPr lang="ru-RU" b="1" dirty="0">
                <a:effectLst/>
              </a:rPr>
              <a:t>Жёсткие ограничения</a:t>
            </a:r>
            <a:r>
              <a:rPr lang="ru-RU" dirty="0">
                <a:effectLst/>
              </a:rPr>
              <a:t> (их </a:t>
            </a:r>
            <a:r>
              <a:rPr lang="ru-RU" b="1" dirty="0">
                <a:effectLst/>
              </a:rPr>
              <a:t>обязательно</a:t>
            </a:r>
            <a:r>
              <a:rPr lang="ru-RU" dirty="0">
                <a:effectLst/>
              </a:rPr>
              <a:t> надо выполнять, иначе решение недопустимо)</a:t>
            </a:r>
          </a:p>
          <a:p>
            <a:pPr>
              <a:buFont typeface="+mj-lt"/>
              <a:buAutoNum type="arabicPeriod"/>
            </a:pPr>
            <a:r>
              <a:rPr lang="ru-RU" b="1" dirty="0"/>
              <a:t>Каждая задача на ровно одной машине</a:t>
            </a:r>
            <a:r>
              <a:rPr lang="ru-RU" dirty="0"/>
              <a:t> xᵢ ∈ {1, 2, …, m} → Просто говорим: «каждая задача должна быть назначена на какую-то одну машину»</a:t>
            </a:r>
          </a:p>
          <a:p>
            <a:pPr>
              <a:buFont typeface="+mj-lt"/>
              <a:buAutoNum type="arabicPeriod"/>
            </a:pPr>
            <a:r>
              <a:rPr lang="ru-RU" b="1" dirty="0"/>
              <a:t>Память должна хватать</a:t>
            </a:r>
            <a:r>
              <a:rPr lang="ru-RU" dirty="0"/>
              <a:t> Vᵢ ≤ M_{xᵢ} → Объём памяти, который требует задача, не должен быть больше, чем есть на выбранной машине.</a:t>
            </a:r>
          </a:p>
          <a:p>
            <a:pPr>
              <a:buFont typeface="+mj-lt"/>
              <a:buAutoNum type="arabicPeriod"/>
            </a:pPr>
            <a:r>
              <a:rPr lang="ru-RU" b="1" dirty="0"/>
              <a:t>Предшествования должны соблюдаться</a:t>
            </a:r>
            <a:r>
              <a:rPr lang="ru-RU" dirty="0"/>
              <a:t> Sᵢ ≥ </a:t>
            </a:r>
            <a:r>
              <a:rPr lang="ru-RU" dirty="0" err="1"/>
              <a:t>max</a:t>
            </a:r>
            <a:r>
              <a:rPr lang="ru-RU" dirty="0"/>
              <a:t>{Cₖ | k ∈ Pᵢ} → Задача не может начаться раньше, чем закончатся все её предшественники.</a:t>
            </a:r>
          </a:p>
          <a:p>
            <a:r>
              <a:rPr lang="ru-RU" b="1" dirty="0">
                <a:effectLst/>
              </a:rPr>
              <a:t>Мягкие ограничения</a:t>
            </a:r>
            <a:r>
              <a:rPr lang="ru-RU" dirty="0">
                <a:effectLst/>
              </a:rPr>
              <a:t> (можно немного нарушить, но за каждое нарушение платим большой штраф)</a:t>
            </a:r>
          </a:p>
          <a:p>
            <a:r>
              <a:rPr lang="ru-RU" b="1" dirty="0">
                <a:effectLst/>
              </a:rPr>
              <a:t>Штраф за нарушение памяти</a:t>
            </a:r>
            <a:r>
              <a:rPr lang="ru-RU" dirty="0">
                <a:effectLst/>
              </a:rPr>
              <a:t> pᵢ^{память} = </a:t>
            </a:r>
            <a:r>
              <a:rPr lang="ru-RU" dirty="0" err="1">
                <a:effectLst/>
              </a:rPr>
              <a:t>max</a:t>
            </a:r>
            <a:r>
              <a:rPr lang="ru-RU" dirty="0">
                <a:effectLst/>
              </a:rPr>
              <a:t>(0, Vᵢ − M_{xᵢ}) · K_{память} Простыми словами: Если задача требует 20 ГБ, а на машине только 16 ГБ → штраф = (20 − 16) × большой коэффициент K Если памяти хватает → штраф = 0</a:t>
            </a:r>
          </a:p>
          <a:p>
            <a:r>
              <a:rPr lang="ru-RU" b="1" dirty="0">
                <a:effectLst/>
              </a:rPr>
              <a:t>Штраф за нарушение предшествования</a:t>
            </a:r>
            <a:r>
              <a:rPr lang="ru-RU" dirty="0">
                <a:effectLst/>
              </a:rPr>
              <a:t> pᵢ^{</a:t>
            </a:r>
            <a:r>
              <a:rPr lang="ru-RU" dirty="0" err="1">
                <a:effectLst/>
              </a:rPr>
              <a:t>предш</a:t>
            </a:r>
            <a:r>
              <a:rPr lang="ru-RU" dirty="0">
                <a:effectLst/>
              </a:rPr>
              <a:t>} = </a:t>
            </a:r>
            <a:r>
              <a:rPr lang="ru-RU" dirty="0" err="1">
                <a:effectLst/>
              </a:rPr>
              <a:t>max</a:t>
            </a:r>
            <a:r>
              <a:rPr lang="ru-RU" dirty="0">
                <a:effectLst/>
              </a:rPr>
              <a:t>(0, </a:t>
            </a:r>
            <a:r>
              <a:rPr lang="ru-RU" dirty="0" err="1">
                <a:effectLst/>
              </a:rPr>
              <a:t>max</a:t>
            </a:r>
            <a:r>
              <a:rPr lang="ru-RU" dirty="0">
                <a:effectLst/>
              </a:rPr>
              <a:t>{Cₖ | k ∈ Pᵢ} − Sᵢ) · K_{</a:t>
            </a:r>
            <a:r>
              <a:rPr lang="ru-RU" dirty="0" err="1">
                <a:effectLst/>
              </a:rPr>
              <a:t>предш</a:t>
            </a:r>
            <a:r>
              <a:rPr lang="ru-RU" dirty="0">
                <a:effectLst/>
              </a:rPr>
              <a:t>} Простыми словами: Если самый поздний предшественник закончился в 100, а мы пытаемся начать эту задачу в 90 → штраф = (100 − 90) × большой коэффициент K Если начали вовремя или позже → штраф = 0</a:t>
            </a:r>
          </a:p>
          <a:p>
            <a:r>
              <a:rPr lang="ru-RU" b="1" dirty="0">
                <a:effectLst/>
              </a:rPr>
              <a:t>Общий штраф решения</a:t>
            </a:r>
            <a:r>
              <a:rPr lang="ru-RU" dirty="0">
                <a:effectLst/>
              </a:rPr>
              <a:t> P(X) = сумма всех pᵢ^{память} + всех pᵢ^{</a:t>
            </a:r>
            <a:r>
              <a:rPr lang="ru-RU" dirty="0" err="1">
                <a:effectLst/>
              </a:rPr>
              <a:t>предш</a:t>
            </a:r>
            <a:r>
              <a:rPr lang="ru-RU" dirty="0">
                <a:effectLst/>
              </a:rPr>
              <a:t>} по всем задачам</a:t>
            </a:r>
          </a:p>
          <a:p>
            <a:r>
              <a:rPr lang="ru-RU" b="1" dirty="0">
                <a:effectLst/>
              </a:rPr>
              <a:t>Итоговая функция, которую минимизирует алгоритм</a:t>
            </a:r>
            <a:r>
              <a:rPr lang="ru-RU" dirty="0">
                <a:effectLst/>
              </a:rPr>
              <a:t> f̃(X) = </a:t>
            </a:r>
            <a:r>
              <a:rPr lang="ru-RU" dirty="0" err="1">
                <a:effectLst/>
              </a:rPr>
              <a:t>max</a:t>
            </a:r>
            <a:r>
              <a:rPr lang="ru-RU" dirty="0">
                <a:effectLst/>
              </a:rPr>
              <a:t>{Cᵢ} + P(X) → Мы пытаемся сделать </a:t>
            </a:r>
            <a:r>
              <a:rPr lang="ru-RU" dirty="0" err="1">
                <a:effectLst/>
              </a:rPr>
              <a:t>makespan</a:t>
            </a:r>
            <a:r>
              <a:rPr lang="ru-RU" dirty="0">
                <a:effectLst/>
              </a:rPr>
              <a:t> как можно меньше, но если алгоритм немного «нарушает» память или порядок — он за это сильно платит штрафом.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2ABD1-8A71-48D0-8AC7-45ACB78FA4A7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21660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>
                <a:effectLst/>
              </a:rPr>
              <a:t>Из нескольких популярных </a:t>
            </a:r>
            <a:r>
              <a:rPr lang="ru-RU" dirty="0" err="1">
                <a:effectLst/>
              </a:rPr>
              <a:t>биоинспирированных</a:t>
            </a:r>
            <a:r>
              <a:rPr lang="ru-RU" dirty="0">
                <a:effectLst/>
              </a:rPr>
              <a:t> алгоритмов был выбран дискретный вариант алгоритма роя частиц — PSO. Основные доводы в его пользу: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высокая скорость сходимости,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относительно простая реализация,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хорошая </a:t>
            </a:r>
            <a:r>
              <a:rPr lang="ru-RU" dirty="0" err="1"/>
              <a:t>распараллеливаемость</a:t>
            </a:r>
            <a:r>
              <a:rPr lang="ru-RU" dirty="0"/>
              <a:t>. По совокупности характеристик он показал лучший баланс для данной задачи.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2ABD1-8A71-48D0-8AC7-45ACB78FA4A7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53364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>
                <a:effectLst/>
              </a:rPr>
              <a:t>На слайде представлена классическая формула обновления скорости и позиции частицы в PSO. В дискретной версии скорость интерпретируется как вероятность изменения значения гена (номера машины). После каждого обновления применяется процедура репарации, которая приводит решение в допустимую область по ограничению памяти.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2ABD1-8A71-48D0-8AC7-45ACB78FA4A7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10934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>
                <a:effectLst/>
              </a:rPr>
              <a:t>Здесь показана общая архитектура программного решения. Проект разделён на три части: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доменная модель задачи,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библиотека алгоритмов,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веб-интерфейс на </a:t>
            </a:r>
            <a:r>
              <a:rPr lang="ru-RU" dirty="0" err="1"/>
              <a:t>Blazor</a:t>
            </a:r>
            <a:r>
              <a:rPr lang="ru-RU" dirty="0"/>
              <a:t> </a:t>
            </a:r>
            <a:r>
              <a:rPr lang="ru-RU" dirty="0" err="1"/>
              <a:t>WebAssembly</a:t>
            </a:r>
            <a:r>
              <a:rPr lang="ru-RU" dirty="0"/>
              <a:t>. Детали реализации опускаем, чтобы уложиться во время.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2ABD1-8A71-48D0-8AC7-45ACB78FA4A7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16394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Интерфейс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2ABD1-8A71-48D0-8AC7-45ACB78FA4A7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82240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>
                <a:effectLst/>
              </a:rPr>
              <a:t>Было проведено 10 различных тестовых наборов данных. На каждом наборе PSO и генетический алгоритм запускались по два раза с одинаковым </a:t>
            </a:r>
            <a:r>
              <a:rPr lang="ru-RU" dirty="0" err="1">
                <a:effectLst/>
              </a:rPr>
              <a:t>сидом</a:t>
            </a:r>
            <a:r>
              <a:rPr lang="ru-RU" dirty="0">
                <a:effectLst/>
              </a:rPr>
              <a:t> случайности для корректного сравнения. Наборы отличались количеством задач, количеством машин, параметрами генерации и настройками самих алгоритмов.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2ABD1-8A71-48D0-8AC7-45ACB78FA4A7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67356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>
                <a:effectLst/>
              </a:rPr>
              <a:t>На этом графике сравнивается качество решений — средний </a:t>
            </a:r>
            <a:r>
              <a:rPr lang="ru-RU" dirty="0" err="1">
                <a:effectLst/>
              </a:rPr>
              <a:t>makespan</a:t>
            </a:r>
            <a:r>
              <a:rPr lang="ru-RU" dirty="0">
                <a:effectLst/>
              </a:rPr>
              <a:t> PSO против результата генетического алгоритма. Синие столбцы — среднее значение PSO по нескольким запускам, зелёные — результат GA.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2ABD1-8A71-48D0-8AC7-45ACB78FA4A7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17201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>
                <a:effectLst/>
              </a:rPr>
              <a:t>Здесь сравнивается чистое время работы алгоритмов. Видно, что PSO практически всегда быстрее генетического алгоритма — иногда в несколько раз.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2ABD1-8A71-48D0-8AC7-45ACB78FA4A7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88863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>
                <a:effectLst/>
              </a:rPr>
              <a:t>График зависимости </a:t>
            </a:r>
            <a:r>
              <a:rPr lang="ru-RU" dirty="0" err="1">
                <a:effectLst/>
              </a:rPr>
              <a:t>makespan</a:t>
            </a:r>
            <a:r>
              <a:rPr lang="ru-RU" dirty="0">
                <a:effectLst/>
              </a:rPr>
              <a:t> от количества задач. Синяя линия — поведение PSO, зелёная — GA. PSO показывает более стабильный и в большинстве случаев лучший результат при росте размерности задачи.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2ABD1-8A71-48D0-8AC7-45ACB78FA4A7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48103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>
                <a:effectLst/>
              </a:rPr>
              <a:t>Последний график — отношение PSO к GA по качеству решения. Значение больше единицы означает, что генетический алгоритм нашёл лучшее решение, меньше единицы — наоборот, лучше PSO. Как видно, в большинстве экспериментов PSO либо сопоставим, либо ощутимо лучше.</a:t>
            </a:r>
          </a:p>
          <a:p>
            <a:endParaRPr lang="ru-RU" dirty="0"/>
          </a:p>
          <a:p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>
                <a:effectLst/>
              </a:rPr>
              <a:t>Таким образом, дискретный алгоритм роя частиц показал себя более эффективным решением для данной задачи по соотношению качество/время работы по сравнению с классическим генетическим алгоритмом. Спасибо за внимание. Готов ответить на вопросы.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2ABD1-8A71-48D0-8AC7-45ACB78FA4A7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37279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1" dirty="0"/>
              <a:t>1. Что за задача вообще?</a:t>
            </a:r>
          </a:p>
          <a:p>
            <a:r>
              <a:rPr lang="ru-RU" dirty="0">
                <a:effectLst/>
              </a:rPr>
              <a:t>Есть </a:t>
            </a:r>
            <a:r>
              <a:rPr lang="ru-RU" b="1" dirty="0">
                <a:effectLst/>
              </a:rPr>
              <a:t>задачи</a:t>
            </a:r>
            <a:r>
              <a:rPr lang="ru-RU" dirty="0">
                <a:effectLst/>
              </a:rPr>
              <a:t> (программы, которые надо посчитать) и </a:t>
            </a:r>
            <a:r>
              <a:rPr lang="ru-RU" b="1" dirty="0">
                <a:effectLst/>
              </a:rPr>
              <a:t>виртуальные машины</a:t>
            </a:r>
            <a:r>
              <a:rPr lang="ru-RU" dirty="0">
                <a:effectLst/>
              </a:rPr>
              <a:t> (компьютеры разной мощности и с разным объёмом памяти). У каждой задачи есть: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сколько работы нужно сделать (T — объём вычислений)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сколько памяти надо (V)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какие задачи должны закончиться раньше (предшественники)</a:t>
            </a:r>
          </a:p>
          <a:p>
            <a:r>
              <a:rPr lang="ru-RU" dirty="0">
                <a:effectLst/>
              </a:rPr>
              <a:t>У каждой машины: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как быстро считает (F — производительность)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сколько памяти есть (M)</a:t>
            </a:r>
          </a:p>
          <a:p>
            <a:r>
              <a:rPr lang="ru-RU" b="1" dirty="0">
                <a:effectLst/>
              </a:rPr>
              <a:t>Цель</a:t>
            </a:r>
            <a:r>
              <a:rPr lang="ru-RU" dirty="0">
                <a:effectLst/>
              </a:rPr>
              <a:t>: раздать все задачи по машинам так, чтобы: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всем хватило памяти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все зависимости соблюдались (никто не начал раньше своих предшественников)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всё закончилось как можно быстрее (самое позднее время завершения — </a:t>
            </a:r>
            <a:r>
              <a:rPr lang="ru-RU" dirty="0" err="1"/>
              <a:t>makespan</a:t>
            </a:r>
            <a:r>
              <a:rPr lang="ru-RU" dirty="0"/>
              <a:t> — было минимальным)</a:t>
            </a:r>
          </a:p>
          <a:p>
            <a:r>
              <a:rPr lang="ru-RU" b="1" dirty="0"/>
              <a:t>2. Как это записывают математически (самое главное)</a:t>
            </a:r>
          </a:p>
          <a:p>
            <a:r>
              <a:rPr lang="ru-RU" b="1" dirty="0">
                <a:effectLst/>
              </a:rPr>
              <a:t>Решение</a:t>
            </a:r>
            <a:r>
              <a:rPr lang="ru-RU" dirty="0">
                <a:effectLst/>
              </a:rPr>
              <a:t> — это просто сказать каждой задаче номер машины: X = (x₁, x₂, ..., xₙ) xᵢ = 3 значит → задача i выполняется на машине №3</a:t>
            </a:r>
          </a:p>
          <a:p>
            <a:r>
              <a:rPr lang="ru-RU" b="1" dirty="0">
                <a:effectLst/>
              </a:rPr>
              <a:t>Время выполнения одной задачи</a:t>
            </a:r>
            <a:r>
              <a:rPr lang="ru-RU" dirty="0">
                <a:effectLst/>
              </a:rPr>
              <a:t> tᵢ = Tᵢ / Fⱼ (работа ÷ скорость = время)</a:t>
            </a:r>
          </a:p>
          <a:p>
            <a:r>
              <a:rPr lang="ru-RU" b="1" dirty="0">
                <a:effectLst/>
              </a:rPr>
              <a:t>Когда задача может начаться (Sᵢ)</a:t>
            </a:r>
            <a:r>
              <a:rPr lang="ru-RU" dirty="0">
                <a:effectLst/>
              </a:rPr>
              <a:t> Задача не может начать, пока не выполнены </a:t>
            </a:r>
            <a:r>
              <a:rPr lang="ru-RU" b="1" dirty="0">
                <a:effectLst/>
              </a:rPr>
              <a:t>оба</a:t>
            </a:r>
            <a:r>
              <a:rPr lang="ru-RU" dirty="0">
                <a:effectLst/>
              </a:rPr>
              <a:t> условия:</a:t>
            </a:r>
          </a:p>
          <a:p>
            <a:pPr>
              <a:buFont typeface="+mj-lt"/>
              <a:buAutoNum type="arabicPeriod"/>
            </a:pPr>
            <a:r>
              <a:rPr lang="ru-RU" dirty="0"/>
              <a:t>все её предшественники уже закончились</a:t>
            </a:r>
          </a:p>
          <a:p>
            <a:pPr>
              <a:buFont typeface="+mj-lt"/>
              <a:buAutoNum type="arabicPeriod"/>
            </a:pPr>
            <a:r>
              <a:rPr lang="ru-RU" dirty="0"/>
              <a:t>на этой машине закончились все задачи, которые должны идти раньше</a:t>
            </a:r>
          </a:p>
          <a:p>
            <a:r>
              <a:rPr lang="ru-RU" dirty="0">
                <a:effectLst/>
              </a:rPr>
              <a:t>Поэтому: Sᵢ = самое большое из: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времени окончания самого позднего предшественника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времени окончания последней задачи на этой же машине перед ней</a:t>
            </a:r>
          </a:p>
          <a:p>
            <a:r>
              <a:rPr lang="ru-RU" b="1" dirty="0">
                <a:effectLst/>
              </a:rPr>
              <a:t>Когда задача закончится (Cᵢ)</a:t>
            </a:r>
            <a:r>
              <a:rPr lang="ru-RU" dirty="0">
                <a:effectLst/>
              </a:rPr>
              <a:t> Cᵢ = Sᵢ + tᵢ (начала + отработала → закончила)</a:t>
            </a:r>
          </a:p>
          <a:p>
            <a:r>
              <a:rPr lang="ru-RU" b="1" dirty="0">
                <a:effectLst/>
              </a:rPr>
              <a:t>Главный показатель (</a:t>
            </a:r>
            <a:r>
              <a:rPr lang="ru-RU" b="1" dirty="0" err="1">
                <a:effectLst/>
              </a:rPr>
              <a:t>makespan</a:t>
            </a:r>
            <a:r>
              <a:rPr lang="ru-RU" b="1" dirty="0">
                <a:effectLst/>
              </a:rPr>
              <a:t>)</a:t>
            </a:r>
            <a:r>
              <a:rPr lang="ru-RU" dirty="0">
                <a:effectLst/>
              </a:rPr>
              <a:t> f(X) = самое большое Cᵢ среди всех задач (когда закончилась последняя задача)</a:t>
            </a:r>
          </a:p>
          <a:p>
            <a:r>
              <a:rPr lang="ru-RU" b="1" dirty="0"/>
              <a:t>3. Ограничения — что строго обязательно, а за что можно «заплатить»</a:t>
            </a:r>
          </a:p>
          <a:p>
            <a:r>
              <a:rPr lang="ru-RU" b="1" dirty="0">
                <a:effectLst/>
              </a:rPr>
              <a:t>Жёсткие (нарушать нельзя):</a:t>
            </a:r>
            <a:endParaRPr lang="ru-RU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каждая задача на ровно одной машине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памяти должно хватать: Vᵢ ≤ Mⱼ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нельзя начинать раньше предшественников: Sᵢ ≥ </a:t>
            </a:r>
            <a:r>
              <a:rPr lang="ru-RU" dirty="0" err="1"/>
              <a:t>max</a:t>
            </a:r>
            <a:r>
              <a:rPr lang="ru-RU" dirty="0"/>
              <a:t>{C предшественников}</a:t>
            </a:r>
          </a:p>
          <a:p>
            <a:r>
              <a:rPr lang="ru-RU" b="1" dirty="0">
                <a:effectLst/>
              </a:rPr>
              <a:t>Мягкие (можно нарушить, но дорого):</a:t>
            </a:r>
            <a:endParaRPr lang="ru-RU" dirty="0">
              <a:effectLst/>
            </a:endParaRPr>
          </a:p>
          <a:p>
            <a:r>
              <a:rPr lang="ru-RU" dirty="0">
                <a:effectLst/>
              </a:rPr>
              <a:t>Если памяти не хватает → штраф = (Vᵢ − Mⱼ) × большой коэффициент Если начали раньше предшественника → штраф = (время предшественника − начало) × большой коэффициент</a:t>
            </a:r>
          </a:p>
          <a:p>
            <a:r>
              <a:rPr lang="ru-RU" dirty="0">
                <a:effectLst/>
              </a:rPr>
              <a:t>Все штрафы суммируем → P(X) Алгоритм минимизирует: </a:t>
            </a:r>
            <a:r>
              <a:rPr lang="ru-RU" b="1" dirty="0" err="1">
                <a:effectLst/>
              </a:rPr>
              <a:t>makespan</a:t>
            </a:r>
            <a:r>
              <a:rPr lang="ru-RU" b="1" dirty="0">
                <a:effectLst/>
              </a:rPr>
              <a:t> + большой штраф</a:t>
            </a:r>
            <a:r>
              <a:rPr lang="ru-RU" dirty="0">
                <a:effectLst/>
              </a:rPr>
              <a:t> (поэтому почти никогда не нарушает, но теоретически может чуть-чуть)</a:t>
            </a:r>
          </a:p>
          <a:p>
            <a:r>
              <a:rPr lang="ru-RU" b="1" dirty="0"/>
              <a:t>4. Какой алгоритм выбрали и почему</a:t>
            </a:r>
          </a:p>
          <a:p>
            <a:r>
              <a:rPr lang="ru-RU" dirty="0">
                <a:effectLst/>
              </a:rPr>
              <a:t>Сравнивали несколько </a:t>
            </a:r>
            <a:r>
              <a:rPr lang="ru-RU" dirty="0" err="1">
                <a:effectLst/>
              </a:rPr>
              <a:t>биоинспирированных</a:t>
            </a:r>
            <a:r>
              <a:rPr lang="ru-RU" dirty="0">
                <a:effectLst/>
              </a:rPr>
              <a:t> методов. Выбрали </a:t>
            </a:r>
            <a:r>
              <a:rPr lang="ru-RU" b="1" dirty="0">
                <a:effectLst/>
              </a:rPr>
              <a:t>дискретный PSO</a:t>
            </a:r>
            <a:r>
              <a:rPr lang="ru-RU" dirty="0">
                <a:effectLst/>
              </a:rPr>
              <a:t> (роевой интеллект, алгоритм роя частиц).</a:t>
            </a:r>
          </a:p>
          <a:p>
            <a:r>
              <a:rPr lang="ru-RU" dirty="0">
                <a:effectLst/>
              </a:rPr>
              <a:t>Почему именно он: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быстро сходится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относительно легко программировать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хорошо распараллеливается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нормально работает с дискретными задачами (после доработки)</a:t>
            </a:r>
          </a:p>
          <a:p>
            <a:r>
              <a:rPr lang="ru-RU" dirty="0">
                <a:effectLst/>
              </a:rPr>
              <a:t>Генетический алгоритм тоже пробовали → PSO почти всегда лучше или сопоставим, но сильно быстрее.</a:t>
            </a:r>
          </a:p>
          <a:p>
            <a:r>
              <a:rPr lang="ru-RU" b="1" dirty="0"/>
              <a:t>5. Кратко про эксперименты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10 разных наборов данных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от маленьких (10–20 задач) до довольно больших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на каждом наборе запускали PSO и GA по 2 раза (с одинаковым </a:t>
            </a:r>
            <a:r>
              <a:rPr lang="ru-RU" dirty="0" err="1"/>
              <a:t>сидом</a:t>
            </a:r>
            <a:r>
              <a:rPr lang="ru-RU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сравнивали качество (</a:t>
            </a:r>
            <a:r>
              <a:rPr lang="ru-RU" dirty="0" err="1"/>
              <a:t>makespan</a:t>
            </a:r>
            <a:r>
              <a:rPr lang="ru-RU" dirty="0"/>
              <a:t>) и время работы</a:t>
            </a:r>
          </a:p>
          <a:p>
            <a:r>
              <a:rPr lang="ru-RU" b="1" dirty="0">
                <a:effectLst/>
              </a:rPr>
              <a:t>Выводы по графикам (коротко):</a:t>
            </a:r>
            <a:endParaRPr lang="ru-RU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PSO чаще всего даёт либо такое же, либо лучшее время завершения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PSO почти всегда </a:t>
            </a:r>
            <a:r>
              <a:rPr lang="ru-RU" b="1" dirty="0"/>
              <a:t>значительно быстрее</a:t>
            </a:r>
            <a:r>
              <a:rPr lang="ru-RU" dirty="0"/>
              <a:t> по времени вычисления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при росте количества задач разница в пользу PSO становится заметнее</a:t>
            </a:r>
          </a:p>
          <a:p>
            <a:r>
              <a:rPr lang="ru-RU" b="1" dirty="0"/>
              <a:t>6. Самые частые вопросы преподавателей (быстрые ответы)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Зачем два </a:t>
            </a:r>
            <a:r>
              <a:rPr lang="ru-RU" dirty="0" err="1"/>
              <a:t>max</a:t>
            </a:r>
            <a:r>
              <a:rPr lang="ru-RU" dirty="0"/>
              <a:t> в Sᵢ? Один — ждём предшественников по логике задачи. Второй — ждём, пока освободится машина.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Почему штрафы, а не жёсткие ограничения везде? Так алгоритм может «пробовать» разные варианты на ранних стадиях, но потом почти всегда приходит к правильным решениям.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Почему именно PSO, а не генетический? Быстрее сходится и быстрее работает при похожем или лучшем качестве.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Что такое </a:t>
            </a:r>
            <a:r>
              <a:rPr lang="ru-RU" dirty="0" err="1"/>
              <a:t>makespan</a:t>
            </a:r>
            <a:r>
              <a:rPr lang="ru-RU" dirty="0"/>
              <a:t>? Время, когда закончилась самая последняя задача — главный показатель качества 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2ABD1-8A71-48D0-8AC7-45ACB78FA4A7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41502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2.sv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11" Type="http://schemas.openxmlformats.org/officeDocument/2006/relationships/image" Target="../media/image18.png"/><Relationship Id="rId5" Type="http://schemas.openxmlformats.org/officeDocument/2006/relationships/image" Target="../media/image8.png"/><Relationship Id="rId10" Type="http://schemas.openxmlformats.org/officeDocument/2006/relationships/image" Target="../media/image17.svg"/><Relationship Id="rId4" Type="http://schemas.openxmlformats.org/officeDocument/2006/relationships/image" Target="../media/image2.sv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23.svg"/><Relationship Id="rId4" Type="http://schemas.openxmlformats.org/officeDocument/2006/relationships/image" Target="../media/image2.svg"/><Relationship Id="rId9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9.sv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8.png"/><Relationship Id="rId5" Type="http://schemas.openxmlformats.org/officeDocument/2006/relationships/image" Target="../media/image2.svg"/><Relationship Id="rId4" Type="http://schemas.openxmlformats.org/officeDocument/2006/relationships/image" Target="../media/image1.png"/><Relationship Id="rId9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28.svg"/><Relationship Id="rId4" Type="http://schemas.openxmlformats.org/officeDocument/2006/relationships/image" Target="../media/image2.svg"/><Relationship Id="rId9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2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2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2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2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2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3890343" y="5516388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4840371" y="6758253"/>
                </a:moveTo>
                <a:lnTo>
                  <a:pt x="0" y="6758253"/>
                </a:lnTo>
                <a:lnTo>
                  <a:pt x="0" y="0"/>
                </a:lnTo>
                <a:lnTo>
                  <a:pt x="4840371" y="0"/>
                </a:lnTo>
                <a:lnTo>
                  <a:pt x="4840371" y="675825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212327" flipH="1">
            <a:off x="-1633813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2020970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76744" flipV="1">
            <a:off x="12281842" y="-3234705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2348517" y="-3496396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8204953" y="9394497"/>
            <a:ext cx="1878094" cy="705137"/>
            <a:chOff x="0" y="0"/>
            <a:chExt cx="494642" cy="18571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94642" cy="185715"/>
            </a:xfrm>
            <a:custGeom>
              <a:avLst/>
              <a:gdLst/>
              <a:ahLst/>
              <a:cxnLst/>
              <a:rect l="l" t="t" r="r" b="b"/>
              <a:pathLst>
                <a:path w="494642" h="185715">
                  <a:moveTo>
                    <a:pt x="92858" y="0"/>
                  </a:moveTo>
                  <a:lnTo>
                    <a:pt x="401785" y="0"/>
                  </a:lnTo>
                  <a:cubicBezTo>
                    <a:pt x="426412" y="0"/>
                    <a:pt x="450031" y="9783"/>
                    <a:pt x="467445" y="27197"/>
                  </a:cubicBezTo>
                  <a:cubicBezTo>
                    <a:pt x="484859" y="44612"/>
                    <a:pt x="494642" y="68230"/>
                    <a:pt x="494642" y="92858"/>
                  </a:cubicBezTo>
                  <a:lnTo>
                    <a:pt x="494642" y="92858"/>
                  </a:lnTo>
                  <a:cubicBezTo>
                    <a:pt x="494642" y="144141"/>
                    <a:pt x="453068" y="185715"/>
                    <a:pt x="401785" y="185715"/>
                  </a:cubicBezTo>
                  <a:lnTo>
                    <a:pt x="92858" y="185715"/>
                  </a:lnTo>
                  <a:cubicBezTo>
                    <a:pt x="68230" y="185715"/>
                    <a:pt x="44612" y="175932"/>
                    <a:pt x="27197" y="158518"/>
                  </a:cubicBezTo>
                  <a:cubicBezTo>
                    <a:pt x="9783" y="141104"/>
                    <a:pt x="0" y="117485"/>
                    <a:pt x="0" y="92858"/>
                  </a:cubicBezTo>
                  <a:lnTo>
                    <a:pt x="0" y="92858"/>
                  </a:lnTo>
                  <a:cubicBezTo>
                    <a:pt x="0" y="68230"/>
                    <a:pt x="9783" y="44612"/>
                    <a:pt x="27197" y="27197"/>
                  </a:cubicBezTo>
                  <a:cubicBezTo>
                    <a:pt x="44612" y="9783"/>
                    <a:pt x="68230" y="0"/>
                    <a:pt x="92858" y="0"/>
                  </a:cubicBezTo>
                  <a:close/>
                </a:path>
              </a:pathLst>
            </a:custGeom>
            <a:solidFill>
              <a:srgbClr val="545454"/>
            </a:solidFill>
            <a:ln w="38100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94642" cy="223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7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568923" y="29419"/>
            <a:ext cx="1252591" cy="1210527"/>
          </a:xfrm>
          <a:custGeom>
            <a:avLst/>
            <a:gdLst/>
            <a:ahLst/>
            <a:cxnLst/>
            <a:rect l="l" t="t" r="r" b="b"/>
            <a:pathLst>
              <a:path w="1252591" h="1210527">
                <a:moveTo>
                  <a:pt x="0" y="0"/>
                </a:moveTo>
                <a:lnTo>
                  <a:pt x="1252591" y="0"/>
                </a:lnTo>
                <a:lnTo>
                  <a:pt x="1252591" y="1210527"/>
                </a:lnTo>
                <a:lnTo>
                  <a:pt x="0" y="12105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0" y="2323317"/>
            <a:ext cx="18288000" cy="3354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799" b="1" dirty="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ЛАБОРАТОРНАЯ РАБОТА  №5.</a:t>
            </a:r>
          </a:p>
          <a:p>
            <a:pPr algn="ctr">
              <a:lnSpc>
                <a:spcPts val="6719"/>
              </a:lnSpc>
            </a:pPr>
            <a:r>
              <a:rPr lang="en-US" sz="4799" b="1" dirty="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НА ТЕМУ: «БИОИНСПИРИРОВАННЫЕ АЛГОРИТМЫ И РОЕВОЙ ИНТЕЛЛЕКТ»</a:t>
            </a:r>
          </a:p>
          <a:p>
            <a:pPr algn="ctr">
              <a:lnSpc>
                <a:spcPts val="6719"/>
              </a:lnSpc>
            </a:pPr>
            <a:r>
              <a:rPr lang="en-US" sz="4799" b="1" dirty="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ПО ДИСЦИПЛИНЕ: «АЛГОРИТМЫ НА ГРАФАХ»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942248" y="6748179"/>
            <a:ext cx="12403504" cy="1562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56"/>
              </a:lnSpc>
              <a:spcBef>
                <a:spcPct val="0"/>
              </a:spcBef>
            </a:pPr>
            <a:r>
              <a:rPr lang="en-US" sz="44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Выполнил: Наследников Михаил Викторович, студент группы ДИПРБ 31/2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284279" y="9419328"/>
            <a:ext cx="1719443" cy="522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96"/>
              </a:lnSpc>
              <a:spcBef>
                <a:spcPct val="0"/>
              </a:spcBef>
            </a:pPr>
            <a:r>
              <a:rPr lang="en-US" sz="3068">
                <a:solidFill>
                  <a:srgbClr val="E9E9E9"/>
                </a:solidFill>
                <a:latin typeface="Garet"/>
                <a:ea typeface="Garet"/>
                <a:cs typeface="Garet"/>
                <a:sym typeface="Garet"/>
              </a:rPr>
              <a:t>2025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466330" y="221615"/>
            <a:ext cx="13844199" cy="807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Федеральное агентство по рыболовству Федеральное государственное бюджетное образовательное учреждение высшего образования «Астраханский государственный технический университет» Система менеджмента качества в области образования, воспитания, науки и инноваций сертифицирована  ООО «ДКС РУС» по международному стандарту ISO 9001:2015 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088012" y="1204209"/>
            <a:ext cx="10111975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1. УСЛОВИЯ ЗАДАЧИ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534615" y="2709263"/>
            <a:ext cx="13679641" cy="6381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Дан набор вычислительных задач и набор виртуальных машин. Для каждой задачи известен объём вычислений и требования к памяти, а для каждой виртуальной машины — производительность и ограничения по памяти. Для задач заданы отношения предшествования (вида «задача С должна выполняться после задач A и B»)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Необходимо назначить каждую задачу одной виртуальной машине так, чтобы:</a:t>
            </a: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все ограничения по ресурсам были выполнены;</a:t>
            </a: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все отношения предшествования были выполнены;</a:t>
            </a: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общее время выполнения всех задач было минимальным.</a:t>
            </a:r>
          </a:p>
          <a:p>
            <a:pPr algn="just">
              <a:lnSpc>
                <a:spcPts val="4200"/>
              </a:lnSpc>
              <a:spcBef>
                <a:spcPct val="0"/>
              </a:spcBef>
            </a:pPr>
            <a:endParaRPr lang="en-US" sz="3000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01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249909" y="2620069"/>
            <a:ext cx="13788183" cy="3937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Пусть 𝑛 — количество задач, 𝑚 — количество виртуальных машин.</a:t>
            </a:r>
          </a:p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Для каждой задачи 𝑖 = 1, …, 𝑛 заданы:</a:t>
            </a:r>
          </a:p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•𝑇𝑖 — объём вычислений (в условных единицах),</a:t>
            </a:r>
          </a:p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•𝑉𝑖 —  требуемый объём памяти,</a:t>
            </a:r>
          </a:p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•𝑃𝑖 — множество непосредственных предшественников (не содержит циклов).</a:t>
            </a:r>
          </a:p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Для каждой виртуальной машины 𝑗 = 1, …, 𝑚 заданы:</a:t>
            </a:r>
          </a:p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• 𝐹𝑗 — производительность (единиц вычислений в единицу времени),</a:t>
            </a:r>
          </a:p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• 𝑀𝑗 — доступный объём памяти.</a:t>
            </a:r>
          </a:p>
          <a:p>
            <a:pPr algn="just">
              <a:lnSpc>
                <a:spcPts val="3500"/>
              </a:lnSpc>
              <a:spcBef>
                <a:spcPct val="0"/>
              </a:spcBef>
            </a:pPr>
            <a:endParaRPr lang="en-US" sz="2500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134726" y="6499919"/>
            <a:ext cx="13788183" cy="174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sz="25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Вектор назначения: </a:t>
            </a:r>
          </a:p>
          <a:p>
            <a:pPr algn="just">
              <a:lnSpc>
                <a:spcPts val="3500"/>
              </a:lnSpc>
            </a:pPr>
            <a:endParaRPr lang="en-US" sz="2500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  <a:p>
            <a:pPr algn="just">
              <a:lnSpc>
                <a:spcPts val="3500"/>
              </a:lnSpc>
            </a:pPr>
            <a:endParaRPr lang="en-US" sz="2500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  <a:p>
            <a:pPr algn="just">
              <a:lnSpc>
                <a:spcPts val="3500"/>
              </a:lnSpc>
            </a:pPr>
            <a:r>
              <a:rPr lang="en-US" sz="25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Булева матрица назначения:</a:t>
            </a: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Freeform 7"/>
          <p:cNvSpPr/>
          <p:nvPr/>
        </p:nvSpPr>
        <p:spPr>
          <a:xfrm>
            <a:off x="5371218" y="7186735"/>
            <a:ext cx="7315200" cy="429768"/>
          </a:xfrm>
          <a:custGeom>
            <a:avLst/>
            <a:gdLst/>
            <a:ahLst/>
            <a:cxnLst/>
            <a:rect l="l" t="t" r="r" b="b"/>
            <a:pathLst>
              <a:path w="7315200" h="429768">
                <a:moveTo>
                  <a:pt x="0" y="0"/>
                </a:moveTo>
                <a:lnTo>
                  <a:pt x="7315200" y="0"/>
                </a:lnTo>
                <a:lnTo>
                  <a:pt x="7315200" y="429768"/>
                </a:lnTo>
                <a:lnTo>
                  <a:pt x="0" y="42976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5590460" y="8531918"/>
            <a:ext cx="7315200" cy="466344"/>
          </a:xfrm>
          <a:custGeom>
            <a:avLst/>
            <a:gdLst/>
            <a:ahLst/>
            <a:cxnLst/>
            <a:rect l="l" t="t" r="r" b="b"/>
            <a:pathLst>
              <a:path w="7315200" h="466344">
                <a:moveTo>
                  <a:pt x="0" y="0"/>
                </a:moveTo>
                <a:lnTo>
                  <a:pt x="7315200" y="0"/>
                </a:lnTo>
                <a:lnTo>
                  <a:pt x="7315200" y="466344"/>
                </a:lnTo>
                <a:lnTo>
                  <a:pt x="0" y="46634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329863" y="1201138"/>
            <a:ext cx="11628274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2.1 СТРУКТУРА РЕШЕНИЯ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02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6495760" y="3337619"/>
            <a:ext cx="5296479" cy="754748"/>
          </a:xfrm>
          <a:custGeom>
            <a:avLst/>
            <a:gdLst/>
            <a:ahLst/>
            <a:cxnLst/>
            <a:rect l="l" t="t" r="r" b="b"/>
            <a:pathLst>
              <a:path w="5296479" h="754748">
                <a:moveTo>
                  <a:pt x="0" y="0"/>
                </a:moveTo>
                <a:lnTo>
                  <a:pt x="5296480" y="0"/>
                </a:lnTo>
                <a:lnTo>
                  <a:pt x="5296480" y="754748"/>
                </a:lnTo>
                <a:lnTo>
                  <a:pt x="0" y="75474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249909" y="4863353"/>
            <a:ext cx="8087219" cy="2112786"/>
          </a:xfrm>
          <a:custGeom>
            <a:avLst/>
            <a:gdLst/>
            <a:ahLst/>
            <a:cxnLst/>
            <a:rect l="l" t="t" r="r" b="b"/>
            <a:pathLst>
              <a:path w="8087219" h="2112786">
                <a:moveTo>
                  <a:pt x="0" y="0"/>
                </a:moveTo>
                <a:lnTo>
                  <a:pt x="8087218" y="0"/>
                </a:lnTo>
                <a:lnTo>
                  <a:pt x="8087218" y="2112786"/>
                </a:lnTo>
                <a:lnTo>
                  <a:pt x="0" y="211278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006818" y="7963720"/>
            <a:ext cx="14517641" cy="508117"/>
          </a:xfrm>
          <a:custGeom>
            <a:avLst/>
            <a:gdLst/>
            <a:ahLst/>
            <a:cxnLst/>
            <a:rect l="l" t="t" r="r" b="b"/>
            <a:pathLst>
              <a:path w="14517641" h="508117">
                <a:moveTo>
                  <a:pt x="0" y="0"/>
                </a:moveTo>
                <a:lnTo>
                  <a:pt x="14517641" y="0"/>
                </a:lnTo>
                <a:lnTo>
                  <a:pt x="14517641" y="508117"/>
                </a:lnTo>
                <a:lnTo>
                  <a:pt x="0" y="50811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249909" y="2620069"/>
            <a:ext cx="13788183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Цель — минимизация общего времени завершения всех задач: 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329863" y="1201138"/>
            <a:ext cx="11628274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2.2 ЦЕЛЕВАЯ ФУНКЦИЯ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03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249909" y="4231529"/>
            <a:ext cx="13788183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где: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249909" y="7147589"/>
            <a:ext cx="13788183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Значение Si определяется как: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766051" y="4579988"/>
            <a:ext cx="8594161" cy="3437664"/>
          </a:xfrm>
          <a:custGeom>
            <a:avLst/>
            <a:gdLst/>
            <a:ahLst/>
            <a:cxnLst/>
            <a:rect l="l" t="t" r="r" b="b"/>
            <a:pathLst>
              <a:path w="8594161" h="3437664">
                <a:moveTo>
                  <a:pt x="0" y="0"/>
                </a:moveTo>
                <a:lnTo>
                  <a:pt x="8594161" y="0"/>
                </a:lnTo>
                <a:lnTo>
                  <a:pt x="8594161" y="3437664"/>
                </a:lnTo>
                <a:lnTo>
                  <a:pt x="0" y="343766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451348" y="4266903"/>
            <a:ext cx="8129451" cy="5101230"/>
          </a:xfrm>
          <a:custGeom>
            <a:avLst/>
            <a:gdLst/>
            <a:ahLst/>
            <a:cxnLst/>
            <a:rect l="l" t="t" r="r" b="b"/>
            <a:pathLst>
              <a:path w="8129451" h="5101230">
                <a:moveTo>
                  <a:pt x="0" y="0"/>
                </a:moveTo>
                <a:lnTo>
                  <a:pt x="8129451" y="0"/>
                </a:lnTo>
                <a:lnTo>
                  <a:pt x="8129451" y="5101231"/>
                </a:lnTo>
                <a:lnTo>
                  <a:pt x="0" y="510123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TextBox 7"/>
          <p:cNvSpPr txBox="1"/>
          <p:nvPr/>
        </p:nvSpPr>
        <p:spPr>
          <a:xfrm>
            <a:off x="1028700" y="2530970"/>
            <a:ext cx="13788183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Ограничения задачи делятся на два типа: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329863" y="1201138"/>
            <a:ext cx="11628274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2.3 ОГРАНИЧЕНИЯ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04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66051" y="3305669"/>
            <a:ext cx="8377949" cy="869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3" lvl="1" indent="-269876" algn="just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жёсткие (должны выполняться в любом допустимом решении):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51348" y="3305669"/>
            <a:ext cx="8377949" cy="869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3" lvl="1" indent="-269876" algn="just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мягкие (учитываются через штрафные функции):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graphicFrame>
        <p:nvGraphicFramePr>
          <p:cNvPr id="5" name="Object 5"/>
          <p:cNvGraphicFramePr/>
          <p:nvPr/>
        </p:nvGraphicFramePr>
        <p:xfrm>
          <a:off x="1028700" y="3235820"/>
          <a:ext cx="11315700" cy="314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Worksheet" r:id="rId8" imgW="13576300" imgH="5410200" progId="Excel.Sheet.12">
                  <p:embed/>
                </p:oleObj>
              </mc:Choice>
              <mc:Fallback>
                <p:oleObj name="Worksheet" r:id="rId8" imgW="13576300" imgH="54102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028700" y="3235820"/>
                        <a:ext cx="11315700" cy="3143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6"/>
          <p:cNvSpPr txBox="1"/>
          <p:nvPr/>
        </p:nvSpPr>
        <p:spPr>
          <a:xfrm>
            <a:off x="1028700" y="2530970"/>
            <a:ext cx="13788183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Ограничения задачи делятся на два типа: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329863" y="1201138"/>
            <a:ext cx="11628274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3.1 ВЫБОР АЛГОРИТМА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05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8210550"/>
            <a:ext cx="16230600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Выбран дискретный алгоритм роя частиц. Он обеспечивает лучший баланс между скоростью сходимости, качеством решения.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676388" y="2475764"/>
            <a:ext cx="17410925" cy="2491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Каждая частица = возможное решение (вектор назначений X)</a:t>
            </a:r>
          </a:p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Движение частиц управляется: личным лучшим опытом; глобальным лучшим опытом роя; инерцией предыдущей скорости</a:t>
            </a:r>
          </a:p>
          <a:p>
            <a:pPr algn="just">
              <a:lnSpc>
                <a:spcPts val="3360"/>
              </a:lnSpc>
            </a:pPr>
            <a:endParaRPr lang="en-US" sz="2400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В дискретной версии скорость интерпретируется как вероятность изменения значения.</a:t>
            </a:r>
          </a:p>
          <a:p>
            <a:pPr algn="just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Решения корректируются процедурой репарации для соблюдения ограничений по памяти.</a:t>
            </a:r>
          </a:p>
        </p:txBody>
      </p:sp>
      <p:sp>
        <p:nvSpPr>
          <p:cNvPr id="6" name="Freeform 6"/>
          <p:cNvSpPr/>
          <p:nvPr/>
        </p:nvSpPr>
        <p:spPr>
          <a:xfrm>
            <a:off x="4592694" y="5240554"/>
            <a:ext cx="9102611" cy="1479174"/>
          </a:xfrm>
          <a:custGeom>
            <a:avLst/>
            <a:gdLst/>
            <a:ahLst/>
            <a:cxnLst/>
            <a:rect l="l" t="t" r="r" b="b"/>
            <a:pathLst>
              <a:path w="9102611" h="1479174">
                <a:moveTo>
                  <a:pt x="0" y="0"/>
                </a:moveTo>
                <a:lnTo>
                  <a:pt x="9102612" y="0"/>
                </a:lnTo>
                <a:lnTo>
                  <a:pt x="9102612" y="1479174"/>
                </a:lnTo>
                <a:lnTo>
                  <a:pt x="0" y="14791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4889500" y="6995953"/>
            <a:ext cx="8509001" cy="2265521"/>
          </a:xfrm>
          <a:custGeom>
            <a:avLst/>
            <a:gdLst/>
            <a:ahLst/>
            <a:cxnLst/>
            <a:rect l="l" t="t" r="r" b="b"/>
            <a:pathLst>
              <a:path w="8509001" h="2265521">
                <a:moveTo>
                  <a:pt x="0" y="0"/>
                </a:moveTo>
                <a:lnTo>
                  <a:pt x="8509000" y="0"/>
                </a:lnTo>
                <a:lnTo>
                  <a:pt x="8509000" y="2265521"/>
                </a:lnTo>
                <a:lnTo>
                  <a:pt x="0" y="226552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575688" y="1171407"/>
            <a:ext cx="13136623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3.2 АЛГОРИТМ РОЯ ЧАСТИЦ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06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8184529" y="3144871"/>
            <a:ext cx="9301301" cy="5534882"/>
          </a:xfrm>
          <a:custGeom>
            <a:avLst/>
            <a:gdLst/>
            <a:ahLst/>
            <a:cxnLst/>
            <a:rect l="l" t="t" r="r" b="b"/>
            <a:pathLst>
              <a:path w="9301301" h="5534882">
                <a:moveTo>
                  <a:pt x="0" y="0"/>
                </a:moveTo>
                <a:lnTo>
                  <a:pt x="9301301" y="0"/>
                </a:lnTo>
                <a:lnTo>
                  <a:pt x="9301301" y="5534882"/>
                </a:lnTo>
                <a:lnTo>
                  <a:pt x="0" y="553488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575688" y="1171407"/>
            <a:ext cx="13136623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4 ПРОГРАММА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07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23532" y="2723578"/>
            <a:ext cx="6692774" cy="6381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Программное решение разделено на 3 проекта: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Lab.Domain - библиотека классов описывающих суть задачи и требуемое решение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Lab.Algorithms - библиотека классов реализующая алгоритмы решения задачи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Lab.Web - Blazor Web Assembly Standalone App слой отображения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endParaRPr lang="en-US" sz="3000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1501370" y="2365207"/>
            <a:ext cx="15285260" cy="7254644"/>
          </a:xfrm>
          <a:custGeom>
            <a:avLst/>
            <a:gdLst/>
            <a:ahLst/>
            <a:cxnLst/>
            <a:rect l="l" t="t" r="r" b="b"/>
            <a:pathLst>
              <a:path w="15285260" h="7254644">
                <a:moveTo>
                  <a:pt x="0" y="0"/>
                </a:moveTo>
                <a:lnTo>
                  <a:pt x="15285260" y="0"/>
                </a:lnTo>
                <a:lnTo>
                  <a:pt x="15285260" y="7254644"/>
                </a:lnTo>
                <a:lnTo>
                  <a:pt x="0" y="725464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b="-5874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575688" y="1171407"/>
            <a:ext cx="13136623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4.1 ИНТЕРФЕЙС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08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2103430" y="2731044"/>
            <a:ext cx="14081140" cy="6362536"/>
          </a:xfrm>
          <a:custGeom>
            <a:avLst/>
            <a:gdLst/>
            <a:ahLst/>
            <a:cxnLst/>
            <a:rect l="l" t="t" r="r" b="b"/>
            <a:pathLst>
              <a:path w="14081140" h="6362536">
                <a:moveTo>
                  <a:pt x="0" y="0"/>
                </a:moveTo>
                <a:lnTo>
                  <a:pt x="14081140" y="0"/>
                </a:lnTo>
                <a:lnTo>
                  <a:pt x="14081140" y="6362536"/>
                </a:lnTo>
                <a:lnTo>
                  <a:pt x="0" y="63625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b="-144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575688" y="1171407"/>
            <a:ext cx="13136623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4.1 ИНТЕРФЕЙС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09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2210608" y="2639940"/>
            <a:ext cx="13866783" cy="6465388"/>
          </a:xfrm>
          <a:custGeom>
            <a:avLst/>
            <a:gdLst/>
            <a:ahLst/>
            <a:cxnLst/>
            <a:rect l="l" t="t" r="r" b="b"/>
            <a:pathLst>
              <a:path w="13866783" h="6465388">
                <a:moveTo>
                  <a:pt x="0" y="0"/>
                </a:moveTo>
                <a:lnTo>
                  <a:pt x="13866784" y="0"/>
                </a:lnTo>
                <a:lnTo>
                  <a:pt x="13866784" y="6465388"/>
                </a:lnTo>
                <a:lnTo>
                  <a:pt x="0" y="64653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575688" y="1171407"/>
            <a:ext cx="13136623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4.1 ИНТЕРФЕЙС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10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2575688" y="1171407"/>
            <a:ext cx="13136623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5. ЭКСПРЕМЕНТЫ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11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575688" y="3113550"/>
            <a:ext cx="13679641" cy="5540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47" lvl="1" indent="-377824" algn="just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Количество наборов данных: 10</a:t>
            </a:r>
          </a:p>
          <a:p>
            <a:pPr marL="755647" lvl="1" indent="-377824" algn="just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Количество запусков одного эксперимента: 2</a:t>
            </a:r>
          </a:p>
          <a:p>
            <a:pPr marL="755647" lvl="1" indent="-377824" algn="just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Каждый эксперимент сравнивал PSO и GA</a:t>
            </a:r>
          </a:p>
          <a:p>
            <a:pPr marL="755647" lvl="1" indent="-377824" algn="just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Каждый эксперимент имеет заранее установленное семя случайности для воспроизводимости</a:t>
            </a:r>
          </a:p>
          <a:p>
            <a:pPr marL="755647" lvl="1" indent="-377824" algn="just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Каждый эксперимент отличается не только колличеством сущностей задача-машина но и параметрами, как алгоритма так и генерации сущностей.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1446089" y="1344420"/>
            <a:ext cx="15395822" cy="7598160"/>
          </a:xfrm>
          <a:custGeom>
            <a:avLst/>
            <a:gdLst/>
            <a:ahLst/>
            <a:cxnLst/>
            <a:rect l="l" t="t" r="r" b="b"/>
            <a:pathLst>
              <a:path w="15395822" h="7598160">
                <a:moveTo>
                  <a:pt x="0" y="0"/>
                </a:moveTo>
                <a:lnTo>
                  <a:pt x="15395822" y="0"/>
                </a:lnTo>
                <a:lnTo>
                  <a:pt x="15395822" y="7598160"/>
                </a:lnTo>
                <a:lnTo>
                  <a:pt x="0" y="759816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b="-1312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0" y="507365"/>
            <a:ext cx="18288000" cy="521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100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5. СРАВНЕНИЕ КАЧЕСТВА РЕШЕНИЙ PSO И GA ПО ОБЩЕМУ ВРЕМЕНИ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12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1803772" y="1482491"/>
            <a:ext cx="15046272" cy="7523136"/>
          </a:xfrm>
          <a:custGeom>
            <a:avLst/>
            <a:gdLst/>
            <a:ahLst/>
            <a:cxnLst/>
            <a:rect l="l" t="t" r="r" b="b"/>
            <a:pathLst>
              <a:path w="15046272" h="7523136">
                <a:moveTo>
                  <a:pt x="0" y="0"/>
                </a:moveTo>
                <a:lnTo>
                  <a:pt x="15046271" y="0"/>
                </a:lnTo>
                <a:lnTo>
                  <a:pt x="15046271" y="7523136"/>
                </a:lnTo>
                <a:lnTo>
                  <a:pt x="0" y="752313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0" y="507365"/>
            <a:ext cx="18288000" cy="521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100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5. СРАВНЕНИЕ ВРЕМЕНИ ВЫПОЛНЕНИЯ PSO И GA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13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2880490" y="1258901"/>
            <a:ext cx="12527020" cy="7970316"/>
          </a:xfrm>
          <a:custGeom>
            <a:avLst/>
            <a:gdLst/>
            <a:ahLst/>
            <a:cxnLst/>
            <a:rect l="l" t="t" r="r" b="b"/>
            <a:pathLst>
              <a:path w="12527020" h="7970316">
                <a:moveTo>
                  <a:pt x="0" y="0"/>
                </a:moveTo>
                <a:lnTo>
                  <a:pt x="12527020" y="0"/>
                </a:lnTo>
                <a:lnTo>
                  <a:pt x="12527020" y="7970316"/>
                </a:lnTo>
                <a:lnTo>
                  <a:pt x="0" y="797031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0" y="507365"/>
            <a:ext cx="18288000" cy="521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100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5. ЗАВИСИМОСТЬ ДЛИТЕЛЬНОСТИ ОТ КОЛИЧЕСТВА ЗАДАЧ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14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2012749" y="1468828"/>
            <a:ext cx="15100925" cy="7550463"/>
          </a:xfrm>
          <a:custGeom>
            <a:avLst/>
            <a:gdLst/>
            <a:ahLst/>
            <a:cxnLst/>
            <a:rect l="l" t="t" r="r" b="b"/>
            <a:pathLst>
              <a:path w="15100925" h="7550463">
                <a:moveTo>
                  <a:pt x="0" y="0"/>
                </a:moveTo>
                <a:lnTo>
                  <a:pt x="15100926" y="0"/>
                </a:lnTo>
                <a:lnTo>
                  <a:pt x="15100926" y="7550462"/>
                </a:lnTo>
                <a:lnTo>
                  <a:pt x="0" y="75504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0" y="507365"/>
            <a:ext cx="18288000" cy="521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100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5. ОТНОСИТЕЛЬНОЕ КАЧЕСТВО РЕШЕНИЙ: ОТНОШЕНИЕ PSO К GA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15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0" y="3486227"/>
            <a:ext cx="18288000" cy="3143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8"/>
              </a:lnSpc>
            </a:pPr>
            <a:r>
              <a:rPr lang="en-US" sz="9006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КОНЕЦ.</a:t>
            </a:r>
          </a:p>
          <a:p>
            <a:pPr algn="ctr">
              <a:lnSpc>
                <a:spcPts val="12608"/>
              </a:lnSpc>
            </a:pPr>
            <a:r>
              <a:rPr lang="en-US" sz="9006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СПАСИБО ЗА ВНИМАНИЕ</a:t>
            </a:r>
          </a:p>
        </p:txBody>
      </p:sp>
      <p:sp>
        <p:nvSpPr>
          <p:cNvPr id="4" name="Freeform 4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5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16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2330</Words>
  <Application>Microsoft Office PowerPoint</Application>
  <PresentationFormat>Произвольный</PresentationFormat>
  <Paragraphs>192</Paragraphs>
  <Slides>17</Slides>
  <Notes>15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4" baseType="lpstr">
      <vt:lpstr>Garet Bold</vt:lpstr>
      <vt:lpstr>Arial</vt:lpstr>
      <vt:lpstr>Calibri</vt:lpstr>
      <vt:lpstr>Alexandria Bold</vt:lpstr>
      <vt:lpstr>Garet</vt:lpstr>
      <vt:lpstr>Office Theme</vt:lpstr>
      <vt:lpstr>Worksheet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lab_5_alg_graph</dc:title>
  <cp:lastModifiedBy>michael</cp:lastModifiedBy>
  <cp:revision>4</cp:revision>
  <dcterms:created xsi:type="dcterms:W3CDTF">2006-08-16T00:00:00Z</dcterms:created>
  <dcterms:modified xsi:type="dcterms:W3CDTF">2026-01-14T22:09:21Z</dcterms:modified>
  <dc:identifier>DAG-YwJhdwE</dc:identifier>
</cp:coreProperties>
</file>